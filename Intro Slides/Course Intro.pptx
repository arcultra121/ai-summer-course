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19"/>
  </p:notesMasterIdLst>
  <p:sldIdLst>
    <p:sldId id="256" r:id="rId6"/>
    <p:sldId id="257" r:id="rId7"/>
    <p:sldId id="259" r:id="rId8"/>
    <p:sldId id="258" r:id="rId9"/>
    <p:sldId id="264" r:id="rId10"/>
    <p:sldId id="268" r:id="rId11"/>
    <p:sldId id="271" r:id="rId12"/>
    <p:sldId id="260" r:id="rId13"/>
    <p:sldId id="262" r:id="rId14"/>
    <p:sldId id="263" r:id="rId15"/>
    <p:sldId id="270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889" autoAdjust="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2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(math) problems</a:t>
            </a:r>
          </a:p>
          <a:p>
            <a:r>
              <a:rPr lang="en-US" dirty="0"/>
              <a:t>Over 500 participants</a:t>
            </a:r>
          </a:p>
          <a:p>
            <a:r>
              <a:rPr lang="en-US" dirty="0"/>
              <a:t>Significant differences in groups (ANOVA)</a:t>
            </a:r>
          </a:p>
          <a:p>
            <a:endParaRPr lang="en-US" dirty="0"/>
          </a:p>
          <a:p>
            <a:r>
              <a:rPr lang="en-US" dirty="0"/>
              <a:t>https://arxiv.org/pdf/2604.04721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7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7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7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7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7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TECHNICIAN Course Intro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Technician Course Structure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Summer prep (Jul – Aug)</a:t>
            </a:r>
          </a:p>
          <a:p>
            <a:r>
              <a:rPr lang="en-US" dirty="0"/>
              <a:t>CMU course (Aug – May)</a:t>
            </a:r>
          </a:p>
          <a:p>
            <a:r>
              <a:rPr lang="en-US" dirty="0"/>
              <a:t>AI2C specific training (May – Jun, TBD)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7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2E2A-93CC-228B-5D5D-F248940C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Schedule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5EF5-7236-389B-A096-020C6BD2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635F-9AA6-9FE3-2A0C-E6C297FC66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ED071E-DED9-5DA1-6FE7-321B92AC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46" y="1180086"/>
            <a:ext cx="11125763" cy="509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4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Daily Schedule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1000 – UTC – Morning class</a:t>
            </a:r>
          </a:p>
          <a:p>
            <a:r>
              <a:rPr lang="en-US" sz="2400" dirty="0"/>
              <a:t>1300 – UTC – Afternoon class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BA8-3CB6-0820-95DD-D4DF6E5F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Fall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F8C8-16DF-8237-872C-03B46314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C33E-B08E-351C-3C45-018F62A00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E1466-E833-8E48-6AEA-12069300FCB9}"/>
              </a:ext>
            </a:extLst>
          </p:cNvPr>
          <p:cNvSpPr txBox="1"/>
          <p:nvPr/>
        </p:nvSpPr>
        <p:spPr>
          <a:xfrm>
            <a:off x="547688" y="1325881"/>
            <a:ext cx="85938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Fall semester covers foundational technical skills:</a:t>
            </a:r>
          </a:p>
          <a:p>
            <a:endParaRPr lang="en-US" dirty="0"/>
          </a:p>
          <a:p>
            <a:r>
              <a:rPr lang="en-US" dirty="0"/>
              <a:t>1. Python Programming (Weeks 1-9)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Cloud Architecture (Weeks 1-7)</a:t>
            </a:r>
          </a:p>
          <a:p>
            <a:endParaRPr lang="en-US" dirty="0"/>
          </a:p>
          <a:p>
            <a:r>
              <a:rPr lang="en-US" dirty="0"/>
              <a:t>3. DevOps (Weeks 8-12)</a:t>
            </a:r>
          </a:p>
          <a:p>
            <a:endParaRPr lang="en-US" dirty="0"/>
          </a:p>
          <a:p>
            <a:r>
              <a:rPr lang="en-US" dirty="0"/>
              <a:t>4. Data Engineering (Weeks 10-12)</a:t>
            </a:r>
          </a:p>
        </p:txBody>
      </p:sp>
    </p:spTree>
    <p:extLst>
      <p:ext uri="{BB962C8B-B14F-4D97-AF65-F5344CB8AC3E}">
        <p14:creationId xmlns:p14="http://schemas.microsoft.com/office/powerpoint/2010/main" val="5549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2A93-3009-6775-7E5C-19BEF313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Spring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D8F6-9AEE-1FA3-E9E6-B67D676E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263F-8CDF-524B-DA61-A9CD0AEB4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A4A35-2DE0-7325-70DA-2F1B9B0FDB74}"/>
              </a:ext>
            </a:extLst>
          </p:cNvPr>
          <p:cNvSpPr txBox="1"/>
          <p:nvPr/>
        </p:nvSpPr>
        <p:spPr>
          <a:xfrm>
            <a:off x="547688" y="1325881"/>
            <a:ext cx="85938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Spring semester covers foundational technical skills:</a:t>
            </a:r>
          </a:p>
          <a:p>
            <a:endParaRPr lang="en-US" dirty="0"/>
          </a:p>
          <a:p>
            <a:r>
              <a:rPr lang="en-US" dirty="0"/>
              <a:t>1. Cloud Native Development (Weeks 1, 3, 5, 7, 9, 11, 12)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AI Practitioner (Weeks 2, 4, 6, 8, 10)</a:t>
            </a:r>
          </a:p>
          <a:p>
            <a:endParaRPr lang="en-US" dirty="0"/>
          </a:p>
          <a:p>
            <a:r>
              <a:rPr lang="en-US" dirty="0"/>
              <a:t>3. Capstone Project (Throughout semester)</a:t>
            </a:r>
          </a:p>
        </p:txBody>
      </p:sp>
    </p:spTree>
    <p:extLst>
      <p:ext uri="{BB962C8B-B14F-4D97-AF65-F5344CB8AC3E}">
        <p14:creationId xmlns:p14="http://schemas.microsoft.com/office/powerpoint/2010/main" val="316132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BC3D-6F38-6673-F3AE-3B20832D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47E618-1C14-985F-8A61-F1CEE926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WEEKLY Schedule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124D-3891-D59E-C41B-F56E1114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8E160-42F6-F29C-EA29-ED38502BD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7E051-1799-8452-2F3B-55CAF6A69ADE}"/>
              </a:ext>
            </a:extLst>
          </p:cNvPr>
          <p:cNvSpPr txBox="1"/>
          <p:nvPr/>
        </p:nvSpPr>
        <p:spPr>
          <a:xfrm>
            <a:off x="389108" y="1056411"/>
            <a:ext cx="1278214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Monday:</a:t>
            </a:r>
          </a:p>
          <a:p>
            <a:r>
              <a:rPr lang="en-US" dirty="0">
                <a:highlight>
                  <a:srgbClr val="00FF00"/>
                </a:highlight>
              </a:rPr>
              <a:t>• 9:30-11:30 AM: Two lectures</a:t>
            </a:r>
          </a:p>
          <a:p>
            <a:r>
              <a:rPr lang="en-US" dirty="0">
                <a:highlight>
                  <a:srgbClr val="00FF00"/>
                </a:highlight>
              </a:rPr>
              <a:t>• 11:30 AM-12:20 PM: Review session with Teaching Assistants</a:t>
            </a:r>
          </a:p>
          <a:p>
            <a:endParaRPr lang="en-US" dirty="0"/>
          </a:p>
          <a:p>
            <a:r>
              <a:rPr lang="en-US" dirty="0"/>
              <a:t>Tuesday:</a:t>
            </a:r>
          </a:p>
          <a:p>
            <a:r>
              <a:rPr lang="en-US" dirty="0"/>
              <a:t>• No scheduled class activities, time for project work and self-study</a:t>
            </a:r>
          </a:p>
          <a:p>
            <a:endParaRPr lang="en-US" dirty="0"/>
          </a:p>
          <a:p>
            <a:r>
              <a:rPr lang="en-US" dirty="0"/>
              <a:t>Wednesday:</a:t>
            </a:r>
          </a:p>
          <a:p>
            <a:r>
              <a:rPr lang="en-US" dirty="0">
                <a:highlight>
                  <a:srgbClr val="00FF00"/>
                </a:highlight>
              </a:rPr>
              <a:t>• 9:30 AM-12:00 PM: Recitations for Group A</a:t>
            </a:r>
          </a:p>
          <a:p>
            <a:r>
              <a:rPr lang="en-US" dirty="0">
                <a:highlight>
                  <a:srgbClr val="00FF00"/>
                </a:highlight>
              </a:rPr>
              <a:t>• 1:00-3:30 PM: Recitations for Group B</a:t>
            </a:r>
          </a:p>
          <a:p>
            <a:endParaRPr lang="en-US" dirty="0"/>
          </a:p>
          <a:p>
            <a:r>
              <a:rPr lang="en-US" dirty="0"/>
              <a:t>Thursday:</a:t>
            </a:r>
          </a:p>
          <a:p>
            <a:r>
              <a:rPr lang="en-US" dirty="0"/>
              <a:t>• Weekly quiz opens (1 hour to complete, due by midnight) , time for project work and self-study</a:t>
            </a:r>
          </a:p>
          <a:p>
            <a:endParaRPr lang="en-US" dirty="0"/>
          </a:p>
          <a:p>
            <a:r>
              <a:rPr lang="en-US" dirty="0"/>
              <a:t>Friday:</a:t>
            </a:r>
          </a:p>
          <a:p>
            <a:r>
              <a:rPr lang="en-US" dirty="0"/>
              <a:t>• Next week content and primer modules open</a:t>
            </a:r>
          </a:p>
          <a:p>
            <a:endParaRPr lang="en-US" dirty="0"/>
          </a:p>
          <a:p>
            <a:r>
              <a:rPr lang="en-US" dirty="0"/>
              <a:t>Saturday:</a:t>
            </a:r>
          </a:p>
          <a:p>
            <a:r>
              <a:rPr lang="en-US" dirty="0"/>
              <a:t>• Weekly projects due; Previous week’s discussion responses due</a:t>
            </a:r>
          </a:p>
        </p:txBody>
      </p:sp>
    </p:spTree>
    <p:extLst>
      <p:ext uri="{BB962C8B-B14F-4D97-AF65-F5344CB8AC3E}">
        <p14:creationId xmlns:p14="http://schemas.microsoft.com/office/powerpoint/2010/main" val="370410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2C6-D220-675D-1DA2-0D02F579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56F4-5930-A8DB-D462-2F188819A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MAJ Ryan Neville</a:t>
            </a:r>
          </a:p>
          <a:p>
            <a:pPr lvl="1"/>
            <a:r>
              <a:rPr lang="en-US" dirty="0"/>
              <a:t>Commissioned in 2012, Engineer</a:t>
            </a:r>
          </a:p>
          <a:p>
            <a:pPr lvl="1"/>
            <a:r>
              <a:rPr lang="en-US" dirty="0"/>
              <a:t>Engineer Diver (2013 – 2020)</a:t>
            </a:r>
          </a:p>
          <a:p>
            <a:pPr lvl="1"/>
            <a:r>
              <a:rPr lang="en-US" dirty="0"/>
              <a:t>Grad School (2020-2021)</a:t>
            </a:r>
          </a:p>
          <a:p>
            <a:pPr lvl="1"/>
            <a:r>
              <a:rPr lang="en-US" dirty="0"/>
              <a:t>USMA Assistant Professor (2021-2025)</a:t>
            </a:r>
          </a:p>
          <a:p>
            <a:pPr lvl="1"/>
            <a:r>
              <a:rPr lang="en-US" dirty="0"/>
              <a:t>AI2C Technician (2025 – now)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AF692-C1F1-617F-9C2D-8BD3836DE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MAJ Ethan Shafer</a:t>
            </a:r>
          </a:p>
          <a:p>
            <a:pPr lvl="1"/>
            <a:r>
              <a:rPr lang="en-US" dirty="0"/>
              <a:t>Commissioned in 2013, Air Defense</a:t>
            </a:r>
          </a:p>
          <a:p>
            <a:pPr lvl="1"/>
            <a:r>
              <a:rPr lang="en-US" dirty="0"/>
              <a:t>PL / XO</a:t>
            </a:r>
          </a:p>
          <a:p>
            <a:pPr lvl="1"/>
            <a:r>
              <a:rPr lang="en-US" dirty="0"/>
              <a:t>VTIP 26B</a:t>
            </a:r>
          </a:p>
          <a:p>
            <a:pPr lvl="1"/>
            <a:r>
              <a:rPr lang="en-US" dirty="0"/>
              <a:t>Automations OIC</a:t>
            </a:r>
          </a:p>
          <a:p>
            <a:pPr lvl="1"/>
            <a:r>
              <a:rPr lang="en-US" dirty="0"/>
              <a:t>Grad School</a:t>
            </a:r>
          </a:p>
          <a:p>
            <a:pPr lvl="1"/>
            <a:r>
              <a:rPr lang="en-US" dirty="0"/>
              <a:t>USMA Assistant Professor</a:t>
            </a:r>
          </a:p>
          <a:p>
            <a:pPr lvl="1"/>
            <a:r>
              <a:rPr lang="en-US" dirty="0"/>
              <a:t>AI2C Technician, R&amp;E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ACD7-0217-6059-FF43-8F111E44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9715-71BB-9FB0-36B5-F206A17975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7C8E-BBE1-1620-CD8C-FDEE7F1A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F202-B34B-3F90-05A2-14991C467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>
                <a:sym typeface="Arial"/>
              </a:rPr>
              <a:t> Name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Rank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What you do in the Army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Where you're coming from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Your experience level with AI/Tech/Coding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0EFC-913A-CB78-1FFB-14033690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AA8E-E414-56E9-5916-7185B58E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1D11-BC39-04CB-F47C-2B764686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F505-137B-1AC7-B0E0-8C0E9FF80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College courses</a:t>
            </a:r>
          </a:p>
          <a:p>
            <a:r>
              <a:rPr lang="en-US" sz="2400" dirty="0"/>
              <a:t>Python experience</a:t>
            </a:r>
          </a:p>
          <a:p>
            <a:pPr lvl="1"/>
            <a:r>
              <a:rPr lang="en-US" sz="2400" dirty="0"/>
              <a:t>DevOps</a:t>
            </a:r>
          </a:p>
          <a:p>
            <a:pPr lvl="1"/>
            <a:r>
              <a:rPr lang="en-US" sz="2400" dirty="0"/>
              <a:t>Cloud</a:t>
            </a:r>
          </a:p>
          <a:p>
            <a:r>
              <a:rPr lang="en-US" sz="2400" dirty="0"/>
              <a:t>Garbage in, garbage out</a:t>
            </a:r>
          </a:p>
          <a:p>
            <a:pPr lvl="1"/>
            <a:r>
              <a:rPr lang="en-US" sz="2400" dirty="0"/>
              <a:t>Do the material</a:t>
            </a:r>
          </a:p>
          <a:p>
            <a:pPr lvl="1"/>
            <a:r>
              <a:rPr lang="en-US" sz="2400" dirty="0"/>
              <a:t>Optional exercises</a:t>
            </a:r>
          </a:p>
          <a:p>
            <a:pPr lvl="1"/>
            <a:r>
              <a:rPr lang="en-US" sz="2400" dirty="0"/>
              <a:t>Accelerated program, no spoon-feeding</a:t>
            </a:r>
          </a:p>
          <a:p>
            <a:r>
              <a:rPr lang="en-US" sz="2400" dirty="0"/>
              <a:t>Academic Freedom / Equality</a:t>
            </a:r>
          </a:p>
          <a:p>
            <a:r>
              <a:rPr lang="en-US" sz="2400" dirty="0"/>
              <a:t>What do you want out of this?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EAE7-E57F-4F11-1616-8208D34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D439-9617-EA17-D66A-F765FC767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3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9F20-6347-584A-BCA2-BAE9AC8D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Assistance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DC1FAFD-6C27-EB89-AF6C-D97D7CFBAE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3692" y="1600200"/>
            <a:ext cx="6132482" cy="31267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2950-D79C-7986-0803-F6B857C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E8291-E5F1-5171-CE44-034A6E101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3C2F17F-325B-5CC6-C3B0-F07B7DD01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45356" y="1600200"/>
            <a:ext cx="4572000" cy="457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BDAE6-F25C-FCF7-4ED5-5CBC3D4C1879}"/>
              </a:ext>
            </a:extLst>
          </p:cNvPr>
          <p:cNvSpPr txBox="1"/>
          <p:nvPr/>
        </p:nvSpPr>
        <p:spPr>
          <a:xfrm>
            <a:off x="5620870" y="5011270"/>
            <a:ext cx="6225303" cy="11609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not “don’t use AI”</a:t>
            </a:r>
          </a:p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“use AI intelligently”</a:t>
            </a:r>
          </a:p>
        </p:txBody>
      </p:sp>
    </p:spTree>
    <p:extLst>
      <p:ext uri="{BB962C8B-B14F-4D97-AF65-F5344CB8AC3E}">
        <p14:creationId xmlns:p14="http://schemas.microsoft.com/office/powerpoint/2010/main" val="5784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D5FD76-351F-7FD4-F9C6-32F168AF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Icebreaker - Human Bingo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D4283-DB82-2E73-7955-FBCA45E0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F742-F0A4-7083-8E03-9A0A1148B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Google Shape;181;p34">
            <a:extLst>
              <a:ext uri="{FF2B5EF4-FFF2-40B4-BE49-F238E27FC236}">
                <a16:creationId xmlns:a16="http://schemas.microsoft.com/office/drawing/2014/main" id="{6ECD85E3-B507-6E4C-1775-3A1EB7E25EB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>
            <a:off x="1736558" y="1542147"/>
            <a:ext cx="8718884" cy="4904372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76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9DDED307-F3C1-DA17-D86F-D7E08877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353" y="3902885"/>
            <a:ext cx="8231293" cy="1189037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1812-9F5B-FB55-52C9-F98B40D9EF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14371-2A36-3BA2-968A-C671C4FDD1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1693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441</Words>
  <Application>Microsoft Office PowerPoint</Application>
  <PresentationFormat>Widescreen</PresentationFormat>
  <Paragraphs>121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Arial Bold</vt:lpstr>
      <vt:lpstr>US Army 2023 AFC DEVCOM Logo</vt:lpstr>
      <vt:lpstr>AI2C TECHNICIAN Course Intro</vt:lpstr>
      <vt:lpstr>Technician Course Structure</vt:lpstr>
      <vt:lpstr>Summer Schedule</vt:lpstr>
      <vt:lpstr>SUMMER Daily Schedule</vt:lpstr>
      <vt:lpstr>CMU Schedule - Fall</vt:lpstr>
      <vt:lpstr>CMU Schedule - Spring</vt:lpstr>
      <vt:lpstr>CMU WEEKLY Schedule</vt:lpstr>
      <vt:lpstr>Instructor Intros</vt:lpstr>
      <vt:lpstr>Class Intros</vt:lpstr>
      <vt:lpstr>Expectations</vt:lpstr>
      <vt:lpstr>AI Assistance</vt:lpstr>
      <vt:lpstr>Icebreaker - Human Bingo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Ryan Neville</cp:lastModifiedBy>
  <cp:revision>59</cp:revision>
  <dcterms:created xsi:type="dcterms:W3CDTF">2024-10-01T14:45:26Z</dcterms:created>
  <dcterms:modified xsi:type="dcterms:W3CDTF">2026-07-08T14:34:09Z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